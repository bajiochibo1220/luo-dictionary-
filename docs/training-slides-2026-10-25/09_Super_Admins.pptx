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Self-study guide. Screenshots show actual interface components rendered with clearly labelled sample data, not a production acceptance demonstration. No real account or cultural record was changed to make these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Start here: learn at your own pace</a:t>
            </a:r>
          </a:p>
          <a:p/>
          <a:p>
            <a:r>
              <a:t>1. Read a slide, try its action, then check the result. Tap means click. Gold circles mark important controls in the screenshots.</a:t>
            </a:r>
          </a:p>
          <a:p/>
          <a:p>
            <a:r>
              <a:t>2. Use your own account. Your organisation supplies the correct website address and any staff access.</a:t>
            </a:r>
          </a:p>
          <a:p/>
          <a:p>
            <a:r>
              <a:t>3. Screenshots show the current interface with practice details. Actual names, content and menus may differ.</a:t>
            </a:r>
          </a:p>
          <a:p/>
          <a:p>
            <a:r>
              <a:t>Expected result: You will be able to coordinate access and monitor work without confusing oversight with editorial permission.</a:t>
            </a:r>
          </a:p>
          <a:p/>
          <a:p>
            <a:r>
              <a:t>Important: If your menu looks different, first check My access. Do not ask someone to lend you their account.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this guide covers</a:t>
            </a:r>
          </a:p>
          <a:p/>
          <a:p>
            <a:r>
              <a:t>1. Understand what your wider menu allows and what remains restricted.</a:t>
            </a:r>
          </a:p>
          <a:p/>
          <a:p>
            <a:r>
              <a:t>2. Manage staff for your assigned languages and help users.</a:t>
            </a:r>
          </a:p>
          <a:p/>
          <a:p>
            <a:r>
              <a:t>3. Monitor content, activity and system settings responsibly.</a:t>
            </a:r>
          </a:p>
          <a:p/>
          <a:p>
            <a:r>
              <a:t>Expected result: Use the slide numbers to return to a task. The PDF has page bookmarks; PowerPoint has a contents 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Sign in to your own account</a:t>
            </a:r>
          </a:p>
          <a:p/>
          <a:p>
            <a:r>
              <a:t>1. Open the Luo Heritage address supplied by your organisation. Choose Sign in or Log in.</a:t>
            </a:r>
          </a:p>
          <a:p/>
          <a:p>
            <a:r>
              <a:t>2. Enter your email and password, then choose Log in. Check your spelling if it fails.</a:t>
            </a:r>
          </a:p>
          <a:p/>
          <a:p>
            <a:r>
              <a:t>3. Community members may also use Google. Staff should use the account supplied by their administrator.</a:t>
            </a:r>
          </a:p>
          <a:p/>
          <a:p>
            <a:r>
              <a:t>Expected result: Your account or dashboard opens.</a:t>
            </a:r>
          </a:p>
          <a:p/>
          <a:p>
            <a:r>
              <a:t>Important: Never share your password. Use only an address you trust.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Forgot your password?</a:t>
            </a:r>
          </a:p>
          <a:p/>
          <a:p>
            <a:r>
              <a:t>1. On the sign-in screen, choose Forgotten password? Select Reset password.</a:t>
            </a:r>
          </a:p>
          <a:p/>
          <a:p>
            <a:r>
              <a:t>2. Enter your account email. Choose Send email, then check your inbox and spam folder.</a:t>
            </a:r>
          </a:p>
          <a:p/>
          <a:p>
            <a:r>
              <a:t>3. Open the newest reset link within 30 minutes. A link can be used only once.</a:t>
            </a:r>
          </a:p>
          <a:p/>
          <a:p>
            <a:r>
              <a:t>Expected result: An account email arrives if the address is eligible and the email service is available.</a:t>
            </a:r>
          </a:p>
          <a:p/>
          <a:p>
            <a:r>
              <a:t>Important: If no email arrives, contact the person who manages your account. Do not keep requesting links.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Choose a new password</a:t>
            </a:r>
          </a:p>
          <a:p/>
          <a:p>
            <a:r>
              <a:t>1. Open the password reset link from your own inbox.</a:t>
            </a:r>
          </a:p>
          <a:p/>
          <a:p>
            <a:r>
              <a:t>2. Enter a new password of at least 12 characters. A short phrase with several words is easier to remember.</a:t>
            </a:r>
          </a:p>
          <a:p/>
          <a:p>
            <a:r>
              <a:t>3. Choose Confirm. Return to sign in and use the new password on each device.</a:t>
            </a:r>
          </a:p>
          <a:p/>
          <a:p>
            <a:r>
              <a:t>Expected result: The password changes and old sign-ins are ended.</a:t>
            </a:r>
          </a:p>
          <a:p/>
          <a:p>
            <a:r>
              <a:t>Important: Do not forward the reset link. If it has expired, request a new one.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Understand your wider menu</a:t>
            </a:r>
          </a:p>
          <a:p/>
          <a:p>
            <a:r>
              <a:t>1. Use Workflow and Library to inspect content, people and collections.</a:t>
            </a:r>
          </a:p>
          <a:p/>
          <a:p>
            <a:r>
              <a:t>2. Use Insights to see Analytics, AI Monitoring and Audit Logs.</a:t>
            </a:r>
          </a:p>
          <a:p/>
          <a:p>
            <a:r>
              <a:t>3. Administration contains Languages, Admins, Backup and System. Visibility does not mean every action is allowed.</a:t>
            </a:r>
          </a:p>
          <a:p/>
          <a:p>
            <a:r>
              <a:t>Expected result: You can find the right area without assuming that every visible button is yours to use.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Know the limits of Super Admin access</a:t>
            </a:r>
          </a:p>
          <a:p/>
          <a:p>
            <a:r>
              <a:t>1. You oversee the languages assigned to you and may create permitted staff within that scope.</a:t>
            </a:r>
          </a:p>
          <a:p/>
          <a:p>
            <a:r>
              <a:t>2. Editing, cultural review, uploading and publishing still require their assigned language duties.</a:t>
            </a:r>
          </a:p>
          <a:p/>
          <a:p>
            <a:r>
              <a:t>3. Only the Master Super Admin can create or remove Super Admin authority. Database backups are also reserved for that owner.</a:t>
            </a:r>
          </a:p>
          <a:p/>
          <a:p>
            <a:r>
              <a:t>Expected result: You know when to act and when to refer the request to the Master Super Admin.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Create a staff account for the right person</a:t>
            </a:r>
          </a:p>
          <a:p/>
          <a:p>
            <a:r>
              <a:t>1. Open Admins, then choose + Add Admin. Confirm the person’s email and name.</a:t>
            </a:r>
          </a:p>
          <a:p/>
          <a:p>
            <a:r>
              <a:t>2. Choose only the role and language the person needs. Set a strong temporary password.</a:t>
            </a:r>
          </a:p>
          <a:p/>
          <a:p>
            <a:r>
              <a:t>3. Save the account. Share access details privately with that person and ask them to set their own password.</a:t>
            </a:r>
          </a:p>
          <a:p/>
          <a:p>
            <a:r>
              <a:t>Expected result: The staff member appears in Administrators with the intended role and language.</a:t>
            </a:r>
          </a:p>
          <a:p/>
          <a:p>
            <a:r>
              <a:t>Important: Only the Master Super Admin can create or remove Super Admin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users without changing the wrong account</a:t>
            </a:r>
          </a:p>
          <a:p/>
          <a:p>
            <a:r>
              <a:t>1. Open Users. Find the person by their own name and email.</a:t>
            </a:r>
          </a:p>
          <a:p/>
          <a:p>
            <a:r>
              <a:t>2. Open their details and check their language and current access before changing anything.</a:t>
            </a:r>
          </a:p>
          <a:p/>
          <a:p>
            <a:r>
              <a:t>3. Use only the changes allowed by your role. Read every confirmation before suspending or activating accounts.</a:t>
            </a:r>
          </a:p>
          <a:p/>
          <a:p>
            <a:r>
              <a:t>Expected result: The intended account has the correct status and access.</a:t>
            </a:r>
          </a:p>
          <a:p/>
          <a:p>
            <a:r>
              <a:t>Important: Do not select every account to solve a problem affecting one person.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How a contribution reaches readers</a:t>
            </a:r>
          </a:p>
          <a:p/>
          <a:p>
            <a:r>
              <a:t>1. The uploader or contributor prepares a draft and submits it.</a:t>
            </a:r>
          </a:p>
          <a:p/>
          <a:p>
            <a:r>
              <a:t>2. A cultural reviewer checks accuracy. An editor makes requested corrections and returns the item for review.</a:t>
            </a:r>
          </a:p>
          <a:p/>
          <a:p>
            <a:r>
              <a:t>3. A publisher checks the final item and permission. Only an approved public release becomes visible to readers.</a:t>
            </a:r>
          </a:p>
          <a:p/>
          <a:p>
            <a:r>
              <a:t>Expected result: An item may return for changes. Drafts and private approvals are not public publication.</a:t>
            </a:r>
          </a:p>
          <a:p/>
          <a:p>
            <a:r>
              <a:t>Important: Different people should perform the independent checks. Do not approve your own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Check staff assignments regularly</a:t>
            </a:r>
          </a:p>
          <a:p/>
          <a:p>
            <a:r>
              <a:t>1. Open Admins and verify each person’s email, status, language and duty.</a:t>
            </a:r>
          </a:p>
          <a:p/>
          <a:p>
            <a:r>
              <a:t>2. If a person changes duties, update access through the permitted controls; do not share another account.</a:t>
            </a:r>
          </a:p>
          <a:p/>
          <a:p>
            <a:r>
              <a:t>3. Read every revoke or deactivate confirmation. Revoking staff duties is different from deleting the person’s account.</a:t>
            </a:r>
          </a:p>
          <a:p/>
          <a:p>
            <a:r>
              <a:t>Expected result: Staff have the access needed for current work and no unnecessary authority.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Help a user regain access</a:t>
            </a:r>
          </a:p>
          <a:p/>
          <a:p>
            <a:r>
              <a:t>1. Confirm which email and language they should be using. Do not ask for their password.</a:t>
            </a:r>
          </a:p>
          <a:p/>
          <a:p>
            <a:r>
              <a:t>2. Guide them to Forgotten password? and the newest email link. Check whether the account is active.</a:t>
            </a:r>
          </a:p>
          <a:p/>
          <a:p>
            <a:r>
              <a:t>3. If password emails are not being delivered, ask the authorised system owner to check Email settings and the test result.</a:t>
            </a:r>
          </a:p>
          <a:p/>
          <a:p>
            <a:r>
              <a:t>Expected result: The user receives the right recovery instructions without exposing their credentials.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 activity and recorded decisions</a:t>
            </a:r>
          </a:p>
          <a:p/>
          <a:p>
            <a:r>
              <a:t>1. Use Analytics and AI Monitoring to inspect recorded activity and feedback.</a:t>
            </a:r>
          </a:p>
          <a:p/>
          <a:p>
            <a:r>
              <a:t>2. Use Audit Logs to see who changed a record or setting and when.</a:t>
            </a:r>
          </a:p>
          <a:p/>
          <a:p>
            <a:r>
              <a:t>3. Investigate unexpected changes with the responsible staff member. Do not alter evidence to hide a mistake.</a:t>
            </a:r>
          </a:p>
          <a:p/>
          <a:p>
            <a:r>
              <a:t>Expected result: You can follow a concern to the relevant person and recorded action.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System settings carefully</a:t>
            </a:r>
          </a:p>
          <a:p/>
          <a:p>
            <a:r>
              <a:t>1. Open System and read the selected tab before changing anything.</a:t>
            </a:r>
          </a:p>
          <a:p/>
          <a:p>
            <a:r>
              <a:t>2. Change only a setting you understand and are authorised to manage. Save the intended group of settings.</a:t>
            </a:r>
          </a:p>
          <a:p/>
          <a:p>
            <a:r>
              <a:t>3. Check the result afterwards. For service keys, backup, legal ownership or an unavailable control, contact the Master Super Admin.</a:t>
            </a:r>
          </a:p>
          <a:p/>
          <a:p>
            <a:r>
              <a:t>Expected result: A deliberate saved change has the intended effect.</a:t>
            </a:r>
          </a:p>
          <a:p/>
          <a:p>
            <a:r>
              <a:t>Important: Do not include secret service keys in screenshots, slides, email or support messages.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Coordinate content and learning concerns</a:t>
            </a:r>
          </a:p>
          <a:p/>
          <a:p>
            <a:r>
              <a:t>1. Route incomplete uploads to uploaders, corrections to editors and cultural concerns to reviewers.</a:t>
            </a:r>
          </a:p>
          <a:p/>
          <a:p>
            <a:r>
              <a:t>2. Ask the assigned publisher to check release readiness. Do not bypass the independent checks.</a:t>
            </a:r>
          </a:p>
          <a:p/>
          <a:p>
            <a:r>
              <a:t>3. For class work, involve the teacher. Keep learner results and research material private.</a:t>
            </a:r>
          </a:p>
          <a:p/>
          <a:p>
            <a:r>
              <a:t>Expected result: The right person handles the issue without excessive access.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Protect your account and other people</a:t>
            </a:r>
          </a:p>
          <a:p/>
          <a:p>
            <a:r>
              <a:t>1. Use your own account. Sign out on a shared computer or phone.</a:t>
            </a:r>
          </a:p>
          <a:p/>
          <a:p>
            <a:r>
              <a:t>2. Do not copy private interviews, class results or account lists into public chats or messages.</a:t>
            </a:r>
          </a:p>
          <a:p/>
          <a:p>
            <a:r>
              <a:t>3. If a screen shows information you should not see, stop and tell the account administrator.</a:t>
            </a:r>
          </a:p>
          <a:p/>
          <a:p>
            <a:r>
              <a:t>Expected result: Your work remains linked to the right person and private information stays protected.</a:t>
            </a:r>
          </a:p>
          <a:p/>
          <a:p>
            <a:r>
              <a:t>Important: Send support the screen name and error message, never your password or a reset link.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something does not work</a:t>
            </a:r>
          </a:p>
          <a:p/>
          <a:p>
            <a:r>
              <a:t>1. Check your internet connection. Read the message on screen before trying again.</a:t>
            </a:r>
          </a:p>
          <a:p/>
          <a:p>
            <a:r>
              <a:t>2. If your sign-in has expired, sign in again. If a button is missing, ask which role and language you have.</a:t>
            </a:r>
          </a:p>
          <a:p/>
          <a:p>
            <a:r>
              <a:t>3. If it still fails, note the time, screen, button and exact message. Send these to your account administrator.</a:t>
            </a:r>
          </a:p>
          <a:p/>
          <a:p>
            <a:r>
              <a:t>Expected result: You can explain the problem clearly without exposing private information.</a:t>
            </a:r>
          </a:p>
          <a:p/>
          <a:p>
            <a:r>
              <a:t>Important: Before repeating an upload or submission, check whether the first attempt was already saved.</a:t>
            </a:r>
          </a:p>
          <a:p/>
          <a:p>
            <a:r>
              <a:t>Screenshot: current application interface rendered with sample details. No live action is demonstrated.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Try it yourself: your readiness check</a:t>
            </a:r>
          </a:p>
          <a:p/>
          <a:p>
            <a:r>
              <a:t>1. Explain the difference between a Super Admin and the Master Super Admin.</a:t>
            </a:r>
          </a:p>
          <a:p/>
          <a:p>
            <a:r>
              <a:t>2. Create no live accounts during practice; instead identify the correct role and language in the form.</a:t>
            </a:r>
          </a:p>
          <a:p/>
          <a:p>
            <a:r>
              <a:t>3. Find the recovery, monitoring and escalation paths for a reported problem.</a:t>
            </a:r>
          </a:p>
          <a:p/>
          <a:p>
            <a:r>
              <a:t>Expected result: You are ready for routine work when you can complete these steps without help.</a:t>
            </a:r>
          </a:p>
          <a:p/>
          <a:p>
            <a:r>
              <a:t>Important: Use only approved practice material. Do not publish, delete accounts or change live settings just to practise.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slide" Target="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Relationship Id="rId4" Type="http://schemas.openxmlformats.org/officeDocument/2006/relationships/slide" Target="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Relationship Id="rId4" Type="http://schemas.openxmlformats.org/officeDocument/2006/relationships/slide" Target="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Relationship Id="rId4" Type="http://schemas.openxmlformats.org/officeDocument/2006/relationships/slide" Target="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Relationship Id="rId4" Type="http://schemas.openxmlformats.org/officeDocument/2006/relationships/slide" Target="slide3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Relationship Id="rId4" Type="http://schemas.openxmlformats.org/officeDocument/2006/relationships/slide" Target="slide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9.xml"/><Relationship Id="rId4" Type="http://schemas.openxmlformats.org/officeDocument/2006/relationships/slide" Target="slide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10.xml"/><Relationship Id="rId4" Type="http://schemas.openxmlformats.org/officeDocument/2006/relationships/slide" Target="slide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slide" Target="slide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12.xml"/><Relationship Id="rId4" Type="http://schemas.openxmlformats.org/officeDocument/2006/relationships/slide" Target="slide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3.xml"/><Relationship Id="rId4" Type="http://schemas.openxmlformats.org/officeDocument/2006/relationships/slide" Target="slide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14.xml"/><Relationship Id="rId4" Type="http://schemas.openxmlformats.org/officeDocument/2006/relationships/slide" Target="slide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15.xml"/><Relationship Id="rId4" Type="http://schemas.openxmlformats.org/officeDocument/2006/relationships/slide" Target="slide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6.xml"/><Relationship Id="rId4" Type="http://schemas.openxmlformats.org/officeDocument/2006/relationships/slide" Target="slide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7.xml"/><Relationship Id="rId4" Type="http://schemas.openxmlformats.org/officeDocument/2006/relationships/slide" Target="slide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8.xml"/><Relationship Id="rId4" Type="http://schemas.openxmlformats.org/officeDocument/2006/relationships/slide" Target="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5535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Luo Heritage interface screenshot with labelled practice details: luo-heritage-5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600" y="571500"/>
            <a:ext cx="1143000" cy="1143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209800" y="774700"/>
            <a:ext cx="8763000" cy="26822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12"/>
              </a:lnSpc>
              <a:spcAft>
                <a:spcPts val="0"/>
              </a:spcAft>
              <a:defRPr sz="1300" b="1">
                <a:solidFill>
                  <a:srgbClr val="E5AE42"/>
                </a:solidFill>
                <a:latin typeface="Arial"/>
              </a:defRPr>
            </a:pPr>
            <a:r>
              <a:t>LUO HERITAGE / SELF-STUDY SLIDES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09800" y="1130300"/>
            <a:ext cx="87630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LANGUAGE • CULTURE • LIVING MEMORY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6600" y="2247900"/>
            <a:ext cx="10541000" cy="70243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030"/>
              </a:lnSpc>
              <a:spcAft>
                <a:spcPts val="0"/>
              </a:spcAft>
              <a:defRPr sz="4300" b="0">
                <a:solidFill>
                  <a:srgbClr val="FFFAF0"/>
                </a:solidFill>
                <a:latin typeface="Georgia"/>
              </a:defRPr>
            </a:pPr>
            <a:r>
              <a:t>Super Admins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077337"/>
            <a:ext cx="10096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800"/>
              </a:lnSpc>
              <a:spcAft>
                <a:spcPts val="0"/>
              </a:spcAft>
              <a:defRPr sz="2100" b="0">
                <a:solidFill>
                  <a:srgbClr val="F3E6CE"/>
                </a:solidFill>
                <a:latin typeface="Arial"/>
              </a:defRPr>
            </a:pPr>
            <a:r>
              <a:t>Oversee assigned languages and support staff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6600" y="4546600"/>
            <a:ext cx="10668000" cy="1193800"/>
          </a:xfrm>
          <a:prstGeom prst="roundRect">
            <a:avLst>
              <a:gd name="adj" fmla="val 8000"/>
            </a:avLst>
          </a:prstGeom>
          <a:solidFill>
            <a:srgbClr val="6D49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0600" y="4762500"/>
            <a:ext cx="10096500" cy="698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You will be able to coordinate access and monitor work without confusing oversight with</a:t>
            </a:r>
          </a:p>
          <a:p>
            <a:pPr>
              <a:lnSpc>
                <a:spcPts val="2500"/>
              </a:lnSpc>
              <a:spcAft>
                <a:spcPts val="0"/>
              </a:spcAft>
              <a:defRPr sz="1900" b="0">
                <a:solidFill>
                  <a:srgbClr val="FFF7E8"/>
                </a:solidFill>
                <a:latin typeface="Arial"/>
              </a:defRPr>
            </a:pPr>
            <a:r>
              <a:t>editorial permission.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2000" y="6159500"/>
            <a:ext cx="6985000" cy="2524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88"/>
              </a:lnSpc>
              <a:spcAft>
                <a:spcPts val="0"/>
              </a:spcAft>
              <a:defRPr sz="1200" b="1">
                <a:solidFill>
                  <a:srgbClr val="E5AE42"/>
                </a:solidFill>
                <a:latin typeface="Arial"/>
              </a:defRPr>
            </a:pPr>
            <a:r>
              <a:t>READ • TRY •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0" y="6172200"/>
            <a:ext cx="3619500" cy="23672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64"/>
              </a:lnSpc>
              <a:spcAft>
                <a:spcPts val="0"/>
              </a:spcAft>
              <a:defRPr sz="1100" b="0">
                <a:solidFill>
                  <a:srgbClr val="E7D8BF"/>
                </a:solidFill>
                <a:latin typeface="Arial"/>
              </a:defRPr>
            </a:pPr>
            <a:r>
              <a:t>25 October 2026 | Edition 1.0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Start here: learn at your own pace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Read a slide, try its action, then check the result. Tap means click. Gold circles mark important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controls in the screenshots.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41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43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400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Use your own account. Your organisation supplies the correct website address and any staff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access.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02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327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32893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Screenshots show the current interface with practice details. Actual names, content and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menus may differ.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Read the step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 it yourself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4577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2418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4894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 the result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will be able to coordinate access and monitor work without confusing oversight with editorial permission.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1816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your menu looks different, first check My access. Do not ask someone to lend you their account.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02 / 19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What this guide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Understand what your wider menu allows and what remains restricted.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Manage staff for your assigned languages and help users.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67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92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654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Monitor content, activity and system settings responsibly.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Use the slide numbers to return to a task. The PDF has page bookmarks; PowerPoint has a contents view.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18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03 / 19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Sign in to your own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Luo Heritage address supplied by your organisation.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Sign in or Log 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email and password, then choose Log in. Check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spelling if it fails.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Community members may also use Google. Staff should use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supplied by their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account or dashboard opens.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Never share your password. Use only an address you trust.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04 / 19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Forgot your password?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 the sign-in screen, choose Forgotten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password? Select Reset 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your account email. Choose Send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then check your inbox and spam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folder.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newest reset link within 30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minutes. A link can be used only once.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account email arrives if the address is eligible and the email service is available.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If no email arrives, contact the person who manages your account. Do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not keep requesting links.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05 / 19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Choose a new password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4-reset-confir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03337" y="1473200"/>
            <a:ext cx="5366925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 password reset link from your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own inbox.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Enter a new password of at least 12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characters. A short phrase with several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words is easier to remember.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Confirm. Return to sign in and use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 password on each device.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password changes and old sign-ins are ended.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1783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forward the reset link. If it has expired, request a new one.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06 / 19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Understand your wider menu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Workflow and Library to inspect content, people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collections.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Insights to see Analytics, AI Monitoring and Audit Logs.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882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2908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28702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Administration contains Languages, Admins, Backup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System. Visibility does not mean every action is allowed.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find the right area without assuming that every visible button is yours to use.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07 / 19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Know the limits of Super Admin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1-super-admin-sta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oversee the languages assigned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you and may create permitted staff within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that scope.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Editing, cultural review, uploading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publishing still require their assigned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duties.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Only the Master Super Admin can create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remove Super Admin authority. Database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backups are also reserved for that owner.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know when to act and when to refer the request to the Master Super Admin.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08 / 19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Create a staff account for the right person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7-add-adm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3014" y="1473200"/>
            <a:ext cx="5747571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Admins, then choose + Add Admin.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the person’s email and name.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Choose only the role and language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person needs. Set a strong temporary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Save the account. Share access details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privately with that person and ask them to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set their own password.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staff member appears in Administrators with the intended role and language.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Only the Master Super Admin can create or remove Super Admin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authority.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09 / 19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users without changing the wrong account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8-user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993469"/>
            <a:ext cx="6096000" cy="309966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Users. Find the person by their own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name and email.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their details and check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language and current access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changing anything.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only the changes allowed by your role.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confirmation before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suspending or activating accounts.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intended account has the correct status and access.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select every account to solve a problem affecting one person.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10 / 19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How a contribution reaches readers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The uploader or contributor prepares a draft and submits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cultural reviewer checks accuracy. An editor makes requested corrections and returns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item for review.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A publisher checks the final item and permission. Only an approved public release becomes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visible to readers.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Prepare draft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0988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3909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5433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Cultural review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309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230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754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Publisher check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63000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5100" y="4089400"/>
            <a:ext cx="2476500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07500" y="4337050"/>
            <a:ext cx="2222500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Public release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An item may return for changes. Drafts and private approvals are not public publication.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Different people should perform the independent checks. Do not approve your own work.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30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11 / 19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Check staff assignments regularly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51-super-admin-staf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Admins and verify each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email, status, language and duty.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person changes duties, update access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through the permitted controls; do not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 another account.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Read every revoke or deactivate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confirmation. Revoking staff duties is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different from deleting the person’s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Staff have the access needed for current work and no unnecessary authority.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12 / 19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Help a user regain access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3-reset-reques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1683" y="1473200"/>
            <a:ext cx="4830233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Confirm which email and language they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should be using. Do not ask for their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password.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Guide them to Forgotten password?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the newest email link. Check whether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account is active.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password emails are not being delivered,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authorised system owner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Email settings and the test result.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user receives the right recovery instructions without exposing their credentials.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13 / 19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Review activity and recorded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32-super-admin-menu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32520" y="1460500"/>
            <a:ext cx="1813559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Analytics and AI Monitoring to inspect recorded activity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feedback.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Audit Logs to see who changed a record or setting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when.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Investigate unexpected changes with the responsible staff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member. Do not alter evidence to hide a mistake.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follow a concern to the relevant person and recorded action.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14 / 19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Use System settings carefully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9-syste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07875" y="1473200"/>
            <a:ext cx="5957848" cy="414019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Open System and read the selected tab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changing anything.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Change only a setting you understand and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are authorised to manage. Save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intended group of settings.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12319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the result afterwards. For service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keys, backup, legal ownership or an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unavailable control, contact the Master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Super Admin.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A deliberate saved change has the intended effect.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7625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Do not include secret service keys in screenshots, slides, email or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support messages.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15 / 19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Coordinate content and learning concerns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12-cultural-review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72668" y="1473200"/>
            <a:ext cx="5428262" cy="4140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Route incomplete uploads to uploaders,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corrections to editors and cultural concerns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to reviewers.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3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628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5908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the assigned publisher to check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release readiness. Do not bypass the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independent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683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708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6703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For class work, involve the teacher. Keep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learner results and research material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private.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The right person handles the issue without excessive access.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1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16 / 19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Protect your account and other people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537200" y="1371600"/>
            <a:ext cx="6299200" cy="43434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25-my-accoun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38800" y="1528520"/>
            <a:ext cx="6096000" cy="402955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638800" y="5765800"/>
            <a:ext cx="6096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41529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Use your own account. Sign out on a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shared computer or phone.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Do not copy private interviews, class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results or account lists into public chats or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messages.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3909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4163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378200"/>
            <a:ext cx="4152900" cy="9398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a screen shows information you should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not see, stop and tell the account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Your work remains linked to the right person and private information stays protected.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4470400"/>
            <a:ext cx="46355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Send support the screen name and error message, never your password</a:t>
            </a:r>
          </a:p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or a reset link.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17 / 19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When something does not 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569200" y="1358900"/>
            <a:ext cx="4140200" cy="4521200"/>
          </a:xfrm>
          <a:prstGeom prst="roundRect">
            <a:avLst>
              <a:gd name="adj" fmla="val 8000"/>
            </a:avLst>
          </a:prstGeom>
          <a:solidFill>
            <a:srgbClr val="E5E3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Luo Heritage interface screenshot with labelled practice details: 01-sign-i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50175" y="1460500"/>
            <a:ext cx="3778250" cy="431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70800" y="5930900"/>
            <a:ext cx="3937000" cy="19263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16"/>
              </a:lnSpc>
              <a:spcAft>
                <a:spcPts val="0"/>
              </a:spcAft>
              <a:defRPr sz="819" b="0">
                <a:solidFill>
                  <a:srgbClr val="62685E"/>
                </a:solidFill>
                <a:latin typeface="Arial"/>
              </a:defRPr>
            </a:pPr>
            <a:r>
              <a:t>CURRENT INTERFACE • PRACTICE DETAILS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15113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Check your internet connection. Read the message on screen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before trying again.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3114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23368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2987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your sign-in has expired, sign in again. If a button is missing,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ask which role and language you have.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0988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58800" y="31242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5200" y="3086100"/>
            <a:ext cx="6223000" cy="6477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If it still fails, note the time, screen, button and exact message.</a:t>
            </a:r>
          </a:p>
          <a:p>
            <a:pPr>
              <a:lnSpc>
                <a:spcPts val="2300"/>
              </a:lnSpc>
              <a:spcAft>
                <a:spcPts val="0"/>
              </a:spcAft>
              <a:defRPr sz="1700" b="0">
                <a:solidFill>
                  <a:srgbClr val="252723"/>
                </a:solidFill>
                <a:latin typeface="Arial"/>
              </a:defRPr>
            </a:pPr>
            <a:r>
              <a:t>Send these to your account administrator.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can explain the problem clearly without exposing private information.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3400" y="3886200"/>
            <a:ext cx="67056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Before repeating an upload or submission, check whether the first attempt was already saved.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2" name="Contents link">
            <a:hlinkClick action="ppaction://hlinksldjump" r:id="rId4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18 / 19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3E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9400"/>
            <a:ext cx="112395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SELF-STUDY / SUPER ADMINS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96900"/>
            <a:ext cx="11277600" cy="444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Aft>
                <a:spcPts val="0"/>
              </a:spcAft>
              <a:defRPr sz="2700" b="0">
                <a:solidFill>
                  <a:srgbClr val="55351E"/>
                </a:solidFill>
                <a:latin typeface="Georgia"/>
              </a:defRPr>
            </a:pPr>
            <a:r>
              <a:t>Try it yourself: your readiness check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93800"/>
            <a:ext cx="635000" cy="50800"/>
          </a:xfrm>
          <a:prstGeom prst="rect">
            <a:avLst/>
          </a:prstGeom>
          <a:solidFill>
            <a:srgbClr val="E5AE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240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58800" y="15494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5200" y="15113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Explain the difference between a Super Admin and the Master Super Admin.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095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58800" y="2120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5200" y="2082800"/>
            <a:ext cx="10604500" cy="749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Create no live accounts during practice; instead identify the correct role and language in the</a:t>
            </a:r>
          </a:p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form.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984500"/>
            <a:ext cx="330200" cy="3302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8800" y="3009900"/>
            <a:ext cx="228600" cy="29972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60"/>
              </a:lnSpc>
              <a:spcAft>
                <a:spcPts val="0"/>
              </a:spcAft>
              <a:defRPr sz="15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5200" y="2971800"/>
            <a:ext cx="10604500" cy="4064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700"/>
              </a:lnSpc>
              <a:spcAft>
                <a:spcPts val="0"/>
              </a:spcAft>
              <a:defRPr sz="2000" b="0">
                <a:solidFill>
                  <a:srgbClr val="252723"/>
                </a:solidFill>
                <a:latin typeface="Arial"/>
              </a:defRPr>
            </a:pPr>
            <a:r>
              <a:t>Find the recovery, monitoring and escalation paths for a reported problem.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8800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200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2833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34933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487333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Check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18966" y="4305300"/>
            <a:ext cx="355600" cy="3784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480"/>
              </a:lnSpc>
              <a:spcAft>
                <a:spcPts val="0"/>
              </a:spcAft>
              <a:defRPr sz="2000" b="1">
                <a:solidFill>
                  <a:srgbClr val="55351E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11066" y="4089400"/>
            <a:ext cx="3420533" cy="749300"/>
          </a:xfrm>
          <a:prstGeom prst="roundRect">
            <a:avLst>
              <a:gd name="adj" fmla="val 8000"/>
            </a:avLst>
          </a:prstGeom>
          <a:solidFill>
            <a:srgbClr val="245E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3466" y="4337050"/>
            <a:ext cx="3166533" cy="3175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Aft>
                <a:spcPts val="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Ask if unsure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5892800"/>
            <a:ext cx="11277600" cy="330200"/>
          </a:xfrm>
          <a:prstGeom prst="roundRect">
            <a:avLst>
              <a:gd name="adj" fmla="val 8000"/>
            </a:avLst>
          </a:prstGeom>
          <a:solidFill>
            <a:srgbClr val="E5E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9600" y="5956300"/>
            <a:ext cx="10972800" cy="25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Aft>
                <a:spcPts val="0"/>
              </a:spcAft>
              <a:defRPr sz="1150" b="1">
                <a:solidFill>
                  <a:srgbClr val="245E4D"/>
                </a:solidFill>
                <a:latin typeface="Arial"/>
              </a:defRPr>
            </a:pPr>
            <a:r>
              <a:t>CHECK: You are ready for routine work when you can complete these steps without help.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33400" y="5029200"/>
            <a:ext cx="11049000" cy="2413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400"/>
              </a:lnSpc>
              <a:spcAft>
                <a:spcPts val="0"/>
              </a:spcAft>
              <a:defRPr sz="1120" b="0">
                <a:solidFill>
                  <a:srgbClr val="62685E"/>
                </a:solidFill>
                <a:latin typeface="Arial"/>
              </a:defRPr>
            </a:pPr>
            <a:r>
              <a:t>Use only approved practice material. Do not publish, delete accounts or change live settings just to practise.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6451600"/>
            <a:ext cx="11277600" cy="12700"/>
          </a:xfrm>
          <a:prstGeom prst="rect">
            <a:avLst/>
          </a:prstGeom>
          <a:solidFill>
            <a:srgbClr val="D7D9C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53200"/>
            <a:ext cx="87630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62685E"/>
                </a:solidFill>
                <a:latin typeface="Arial"/>
              </a:defRPr>
            </a:pPr>
            <a:r>
              <a:t>LUO HERITAGE / SUPER ADMINS</a:t>
            </a:r>
          </a:p>
        </p:txBody>
      </p:sp>
      <p:sp>
        <p:nvSpPr>
          <p:cNvPr id="27" name="Contents link">
            <a:hlinkClick action="ppaction://hlinksldjump" r:id="rId3"/>
          </p:cNvPr>
          <p:cNvSpPr txBox="1"/>
          <p:nvPr/>
        </p:nvSpPr>
        <p:spPr>
          <a:xfrm>
            <a:off x="10007600" y="6553200"/>
            <a:ext cx="787400" cy="19735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054"/>
              </a:lnSpc>
              <a:spcAft>
                <a:spcPts val="0"/>
              </a:spcAft>
              <a:defRPr sz="850" b="0">
                <a:solidFill>
                  <a:srgbClr val="245E4D"/>
                </a:solidFill>
                <a:latin typeface="Arial"/>
              </a:defRPr>
            </a:pPr>
            <a:r>
              <a:t>Contents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9000" y="6527800"/>
            <a:ext cx="736600" cy="22097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40"/>
              </a:lnSpc>
              <a:spcAft>
                <a:spcPts val="0"/>
              </a:spcAft>
              <a:defRPr sz="1000" b="1">
                <a:solidFill>
                  <a:srgbClr val="62685E"/>
                </a:solidFill>
                <a:latin typeface="Arial"/>
              </a:defRPr>
            </a:pPr>
            <a:r>
              <a:t>19 / 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Luo Heritage — Super Admins</dc:title>
  <dc:subject>Self-study training slides</dc:subject>
  <dc:creator>Luo Heritage</dc:creator>
  <cp:keywords>self-study, role guide, illustrated, training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